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embeddedFontLst>
    <p:embeddedFont>
      <p:font typeface="Lora" pitchFamily="2" charset="0"/>
      <p:regular r:id="rId14"/>
    </p:embeddedFont>
    <p:embeddedFont>
      <p:font typeface="Source Sans 3" panose="020B0604020202020204" charset="0"/>
      <p:regular r:id="rId15"/>
    </p:embeddedFont>
    <p:embeddedFont>
      <p:font typeface="Source Sans 3 Bold" panose="020B0604020202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9434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9.sv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sv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10" Type="http://schemas.openxmlformats.org/officeDocument/2006/relationships/image" Target="../media/image3.png"/><Relationship Id="rId4" Type="http://schemas.openxmlformats.org/officeDocument/2006/relationships/image" Target="../media/image18.svg"/><Relationship Id="rId9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svg"/><Relationship Id="rId5" Type="http://schemas.openxmlformats.org/officeDocument/2006/relationships/image" Target="../media/image25.svg"/><Relationship Id="rId10" Type="http://schemas.openxmlformats.org/officeDocument/2006/relationships/image" Target="../media/image3.png"/><Relationship Id="rId4" Type="http://schemas.openxmlformats.org/officeDocument/2006/relationships/image" Target="../media/image24.svg"/><Relationship Id="rId9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444752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9522" y="149523"/>
            <a:ext cx="4372461" cy="65588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8086" y="871041"/>
            <a:ext cx="6223638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Enterprise Parcel Management System</a:t>
            </a:r>
            <a:endParaRPr lang="en-US" sz="3650" dirty="0"/>
          </a:p>
        </p:txBody>
      </p:sp>
      <p:sp>
        <p:nvSpPr>
          <p:cNvPr id="5" name="Text 2"/>
          <p:cNvSpPr/>
          <p:nvPr/>
        </p:nvSpPr>
        <p:spPr>
          <a:xfrm>
            <a:off x="698086" y="2343547"/>
            <a:ext cx="6833223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Courier &amp; Parcel Services | B.Tech DBMS Project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698086" y="2887067"/>
            <a:ext cx="3012107" cy="1769368"/>
          </a:xfrm>
          <a:prstGeom prst="roundRect">
            <a:avLst>
              <a:gd name="adj" fmla="val 1691"/>
            </a:avLst>
          </a:prstGeom>
          <a:solidFill>
            <a:srgbClr val="444752"/>
          </a:solidFill>
          <a:ln/>
        </p:spPr>
      </p:sp>
      <p:sp>
        <p:nvSpPr>
          <p:cNvPr id="7" name="Text 4"/>
          <p:cNvSpPr/>
          <p:nvPr/>
        </p:nvSpPr>
        <p:spPr>
          <a:xfrm>
            <a:off x="897510" y="3086497"/>
            <a:ext cx="2613257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Student Name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97510" y="3499445"/>
            <a:ext cx="2613257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SHIVAM TIWARI</a:t>
            </a:r>
            <a:endParaRPr lang="en-US" sz="1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V.AKHIL</a:t>
            </a:r>
            <a:endParaRPr lang="en-US" sz="1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BALAJI PATIL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3909617" y="2887067"/>
            <a:ext cx="3012107" cy="1769368"/>
          </a:xfrm>
          <a:prstGeom prst="roundRect">
            <a:avLst>
              <a:gd name="adj" fmla="val 1691"/>
            </a:avLst>
          </a:prstGeom>
          <a:solidFill>
            <a:srgbClr val="444752"/>
          </a:solidFill>
          <a:ln/>
        </p:spPr>
      </p:sp>
      <p:sp>
        <p:nvSpPr>
          <p:cNvPr id="10" name="Text 7"/>
          <p:cNvSpPr/>
          <p:nvPr/>
        </p:nvSpPr>
        <p:spPr>
          <a:xfrm>
            <a:off x="4109042" y="3086497"/>
            <a:ext cx="2613257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Roll Number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109042" y="3499445"/>
            <a:ext cx="2613257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2520080026</a:t>
            </a:r>
            <a:endParaRPr lang="en-US" sz="1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2520080029</a:t>
            </a:r>
            <a:endParaRPr lang="en-US" sz="1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2520080065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698086" y="4855865"/>
            <a:ext cx="6223638" cy="1130995"/>
          </a:xfrm>
          <a:prstGeom prst="roundRect">
            <a:avLst>
              <a:gd name="adj" fmla="val 2646"/>
            </a:avLst>
          </a:prstGeom>
          <a:solidFill>
            <a:srgbClr val="444752"/>
          </a:solidFill>
          <a:ln/>
        </p:spPr>
      </p:sp>
      <p:sp>
        <p:nvSpPr>
          <p:cNvPr id="13" name="Text 10"/>
          <p:cNvSpPr/>
          <p:nvPr/>
        </p:nvSpPr>
        <p:spPr>
          <a:xfrm>
            <a:off x="897510" y="5055295"/>
            <a:ext cx="582478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Department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97510" y="5468243"/>
            <a:ext cx="5824789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AI&amp;DS</a:t>
            </a:r>
            <a:endParaRPr lang="en-US" sz="1550" dirty="0"/>
          </a:p>
        </p:txBody>
      </p:sp>
      <p:pic>
        <p:nvPicPr>
          <p:cNvPr id="17" name="Picture 16" descr="Kl University Logo">
            <a:extLst>
              <a:ext uri="{FF2B5EF4-FFF2-40B4-BE49-F238E27FC236}">
                <a16:creationId xmlns:a16="http://schemas.microsoft.com/office/drawing/2014/main" id="{33D1AB04-32CA-E8FF-9C8F-FD35D84CB6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17" y="-47721"/>
            <a:ext cx="2236582" cy="11182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444752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12" y="149523"/>
            <a:ext cx="4372461" cy="65588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69971" y="907256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Introduction</a:t>
            </a:r>
            <a:endParaRPr lang="en-US" sz="3650" dirty="0"/>
          </a:p>
        </p:txBody>
      </p:sp>
      <p:sp>
        <p:nvSpPr>
          <p:cNvPr id="5" name="Shape 2"/>
          <p:cNvSpPr/>
          <p:nvPr/>
        </p:nvSpPr>
        <p:spPr>
          <a:xfrm>
            <a:off x="5269971" y="1793081"/>
            <a:ext cx="448755" cy="448766"/>
          </a:xfrm>
          <a:prstGeom prst="roundRect">
            <a:avLst>
              <a:gd name="adj" fmla="val 6668"/>
            </a:avLst>
          </a:prstGeom>
          <a:solidFill>
            <a:srgbClr val="444752"/>
          </a:solidFill>
          <a:ln/>
        </p:spPr>
      </p:sp>
      <p:sp>
        <p:nvSpPr>
          <p:cNvPr id="6" name="Text 3"/>
          <p:cNvSpPr/>
          <p:nvPr/>
        </p:nvSpPr>
        <p:spPr>
          <a:xfrm>
            <a:off x="5918151" y="1861641"/>
            <a:ext cx="557545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Critical to Modern Logistics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918151" y="2274590"/>
            <a:ext cx="557545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Courier and parcel management underpins the global supply chain, connecting businesses and consumers at every level.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5269971" y="3311922"/>
            <a:ext cx="448755" cy="448766"/>
          </a:xfrm>
          <a:prstGeom prst="roundRect">
            <a:avLst>
              <a:gd name="adj" fmla="val 6668"/>
            </a:avLst>
          </a:prstGeom>
          <a:solidFill>
            <a:srgbClr val="444752"/>
          </a:solidFill>
          <a:ln/>
        </p:spPr>
      </p:sp>
      <p:sp>
        <p:nvSpPr>
          <p:cNvPr id="9" name="Text 6"/>
          <p:cNvSpPr/>
          <p:nvPr/>
        </p:nvSpPr>
        <p:spPr>
          <a:xfrm>
            <a:off x="5918151" y="3380482"/>
            <a:ext cx="557545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Manual Systems Fall Short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918151" y="3793430"/>
            <a:ext cx="557545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Paper-based and phone-driven operations lead to inefficiencies, delays, and significant customer dissatisfaction.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5269971" y="4830762"/>
            <a:ext cx="448755" cy="448766"/>
          </a:xfrm>
          <a:prstGeom prst="roundRect">
            <a:avLst>
              <a:gd name="adj" fmla="val 6668"/>
            </a:avLst>
          </a:prstGeom>
          <a:solidFill>
            <a:srgbClr val="444752"/>
          </a:solidFill>
          <a:ln/>
        </p:spPr>
      </p:sp>
      <p:sp>
        <p:nvSpPr>
          <p:cNvPr id="12" name="Text 9"/>
          <p:cNvSpPr/>
          <p:nvPr/>
        </p:nvSpPr>
        <p:spPr>
          <a:xfrm>
            <a:off x="5918151" y="4899323"/>
            <a:ext cx="557545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Automation is the Answer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918151" y="5312271"/>
            <a:ext cx="557545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Digitization enables real-time tracking, streamlined workflows, and true operational excellence for courier enterprises.</a:t>
            </a:r>
            <a:endParaRPr lang="en-US" sz="15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BDB8D5B-60EE-D0D4-DD8D-AB1D3AF613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7749" y="6511225"/>
            <a:ext cx="1371719" cy="304826"/>
          </a:xfrm>
          <a:prstGeom prst="rect">
            <a:avLst/>
          </a:prstGeom>
        </p:spPr>
      </p:pic>
      <p:pic>
        <p:nvPicPr>
          <p:cNvPr id="16" name="Picture 15" descr="Kl University Logo">
            <a:extLst>
              <a:ext uri="{FF2B5EF4-FFF2-40B4-BE49-F238E27FC236}">
                <a16:creationId xmlns:a16="http://schemas.microsoft.com/office/drawing/2014/main" id="{8B8CC47A-A7F8-2CFA-1827-C884C252DC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17" y="-47721"/>
            <a:ext cx="2236582" cy="111829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1697831"/>
            <a:ext cx="3462152" cy="346223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653144" y="832346"/>
            <a:ext cx="1966367" cy="303113"/>
          </a:xfrm>
          <a:prstGeom prst="roundRect">
            <a:avLst>
              <a:gd name="adj" fmla="val 7897"/>
            </a:avLst>
          </a:prstGeom>
          <a:solidFill>
            <a:srgbClr val="49042A"/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2799" y="904081"/>
            <a:ext cx="159540" cy="15954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012108" y="892175"/>
            <a:ext cx="2097333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PROBLEM STATEMENT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4653144" y="1215231"/>
            <a:ext cx="6846716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Challenges We Face</a:t>
            </a:r>
            <a:endParaRPr lang="en-US" sz="36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53144" y="2026245"/>
            <a:ext cx="3323646" cy="18999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979565" y="2251075"/>
            <a:ext cx="277240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Manual Handling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4979565" y="2743795"/>
            <a:ext cx="2772400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Paper-based records are prone to errors, misplacement, and irreversible data loss.</a:t>
            </a:r>
            <a:endParaRPr lang="en-US" sz="15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76214" y="2026245"/>
            <a:ext cx="3323646" cy="189994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502636" y="2251075"/>
            <a:ext cx="277240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Tracking Issues</a:t>
            </a:r>
            <a:endParaRPr lang="en-US" sz="1800" dirty="0"/>
          </a:p>
        </p:txBody>
      </p:sp>
      <p:sp>
        <p:nvSpPr>
          <p:cNvPr id="12" name="Text 6"/>
          <p:cNvSpPr/>
          <p:nvPr/>
        </p:nvSpPr>
        <p:spPr>
          <a:xfrm>
            <a:off x="8502636" y="2743795"/>
            <a:ext cx="2772400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Customers lack real-time visibility into parcel location and delivery status.</a:t>
            </a:r>
            <a:endParaRPr lang="en-US" sz="15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53144" y="4125615"/>
            <a:ext cx="3323646" cy="189994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979565" y="4350445"/>
            <a:ext cx="277240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Redundancy</a:t>
            </a:r>
            <a:endParaRPr lang="en-US" sz="1800" dirty="0"/>
          </a:p>
        </p:txBody>
      </p:sp>
      <p:sp>
        <p:nvSpPr>
          <p:cNvPr id="15" name="Text 8"/>
          <p:cNvSpPr/>
          <p:nvPr/>
        </p:nvSpPr>
        <p:spPr>
          <a:xfrm>
            <a:off x="4979565" y="4843165"/>
            <a:ext cx="2772400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Duplicate information scattered across multiple disconnected systems.</a:t>
            </a:r>
            <a:endParaRPr lang="en-US" sz="155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76214" y="4125615"/>
            <a:ext cx="3323646" cy="189994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8502636" y="4350445"/>
            <a:ext cx="277240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Delayed Deliveries</a:t>
            </a:r>
            <a:endParaRPr lang="en-US" sz="1800" dirty="0"/>
          </a:p>
        </p:txBody>
      </p:sp>
      <p:sp>
        <p:nvSpPr>
          <p:cNvPr id="18" name="Text 10"/>
          <p:cNvSpPr/>
          <p:nvPr/>
        </p:nvSpPr>
        <p:spPr>
          <a:xfrm>
            <a:off x="8502636" y="4843165"/>
            <a:ext cx="2772400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Inefficient routing and poor resource allocation cause persistent delivery delays.</a:t>
            </a:r>
            <a:endParaRPr lang="en-US" sz="15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E9FAD2B-32FE-842B-13F8-007B20D53A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07749" y="6511225"/>
            <a:ext cx="1371719" cy="304826"/>
          </a:xfrm>
          <a:prstGeom prst="rect">
            <a:avLst/>
          </a:prstGeom>
        </p:spPr>
      </p:pic>
      <p:pic>
        <p:nvPicPr>
          <p:cNvPr id="21" name="Picture 20" descr="Kl University Logo">
            <a:extLst>
              <a:ext uri="{FF2B5EF4-FFF2-40B4-BE49-F238E27FC236}">
                <a16:creationId xmlns:a16="http://schemas.microsoft.com/office/drawing/2014/main" id="{ABB5F12F-8576-22E4-349F-EEA756998EB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017" y="-47721"/>
            <a:ext cx="2236582" cy="111829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937320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Project Objectives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1922959"/>
            <a:ext cx="498661" cy="4986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8086" y="2670969"/>
            <a:ext cx="5273047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Automate Operations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98086" y="3083917"/>
            <a:ext cx="5273047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End-to-end parcel operations and booking fully digitized and automated.</a:t>
            </a:r>
            <a:endParaRPr lang="en-US" sz="1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20463" y="1922959"/>
            <a:ext cx="498661" cy="49867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20463" y="2670969"/>
            <a:ext cx="527314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Real-Time Tracking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6220463" y="3083917"/>
            <a:ext cx="5273146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Live status updates and location visibility for every parcel in the system.</a:t>
            </a: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8086" y="4121249"/>
            <a:ext cx="498661" cy="49867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98086" y="4869259"/>
            <a:ext cx="5273047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Minimize Errors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698086" y="5282208"/>
            <a:ext cx="5273047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Eliminate data inconsistencies through centralized, validated database management.</a:t>
            </a:r>
            <a:endParaRPr lang="en-US" sz="15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20463" y="4121249"/>
            <a:ext cx="498661" cy="49867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20463" y="4869259"/>
            <a:ext cx="527314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Enhance Satisfaction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6220463" y="5282208"/>
            <a:ext cx="5273146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Boost customer experience and overall operational efficiency across all branches.</a:t>
            </a:r>
            <a:endParaRPr lang="en-US" sz="15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55F4475-EE0D-0178-DED5-1128EE21796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07749" y="6511225"/>
            <a:ext cx="1371719" cy="304826"/>
          </a:xfrm>
          <a:prstGeom prst="rect">
            <a:avLst/>
          </a:prstGeom>
        </p:spPr>
      </p:pic>
      <p:pic>
        <p:nvPicPr>
          <p:cNvPr id="17" name="Picture 16" descr="Kl University Logo">
            <a:extLst>
              <a:ext uri="{FF2B5EF4-FFF2-40B4-BE49-F238E27FC236}">
                <a16:creationId xmlns:a16="http://schemas.microsoft.com/office/drawing/2014/main" id="{96892332-856E-D9AF-6844-5272F96201C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017" y="-47721"/>
            <a:ext cx="2236582" cy="111829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89273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Existing vs. Proposed System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698086" y="1674912"/>
            <a:ext cx="10795524" cy="3471664"/>
          </a:xfrm>
          <a:prstGeom prst="roundRect">
            <a:avLst>
              <a:gd name="adj" fmla="val 862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8086" y="2255639"/>
            <a:ext cx="10795524" cy="1246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98086" y="2833191"/>
            <a:ext cx="10795524" cy="1246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98086" y="3410744"/>
            <a:ext cx="10795524" cy="1246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98086" y="3988296"/>
            <a:ext cx="10795524" cy="1246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98086" y="4565848"/>
            <a:ext cx="10795524" cy="1246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723785" y="1674912"/>
            <a:ext cx="12467" cy="347166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605522" y="1674912"/>
            <a:ext cx="12467" cy="347166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04634" y="1681262"/>
            <a:ext cx="3019151" cy="574377"/>
          </a:xfrm>
          <a:custGeom>
            <a:avLst/>
            <a:gdLst/>
            <a:ahLst/>
            <a:cxnLst/>
            <a:rect l="l" t="t" r="r" b="b"/>
            <a:pathLst>
              <a:path w="3019151" h="574377">
                <a:moveTo>
                  <a:pt x="24935" y="0"/>
                </a:moveTo>
                <a:lnTo>
                  <a:pt x="3019151" y="0"/>
                </a:lnTo>
                <a:lnTo>
                  <a:pt x="3019151" y="574377"/>
                </a:lnTo>
                <a:lnTo>
                  <a:pt x="0" y="574377"/>
                </a:lnTo>
                <a:lnTo>
                  <a:pt x="0" y="24935"/>
                </a:lnTo>
                <a:arcTo wR="24935" hR="24935" stAng="10800000" swAng="5400000"/>
                <a:close/>
              </a:path>
            </a:pathLst>
          </a:custGeom>
          <a:solidFill>
            <a:srgbClr val="0066CC"/>
          </a:solidFill>
          <a:ln/>
        </p:spPr>
      </p:sp>
      <p:sp>
        <p:nvSpPr>
          <p:cNvPr id="12" name="Text 10"/>
          <p:cNvSpPr/>
          <p:nvPr/>
        </p:nvSpPr>
        <p:spPr>
          <a:xfrm>
            <a:off x="904059" y="1807270"/>
            <a:ext cx="3226711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Feature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3723785" y="1681262"/>
            <a:ext cx="3881737" cy="574377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14" name="Text 12"/>
          <p:cNvSpPr/>
          <p:nvPr/>
        </p:nvSpPr>
        <p:spPr>
          <a:xfrm>
            <a:off x="3926385" y="1807270"/>
            <a:ext cx="4086123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Existing System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605522" y="1681262"/>
            <a:ext cx="3881737" cy="574377"/>
          </a:xfrm>
          <a:custGeom>
            <a:avLst/>
            <a:gdLst/>
            <a:ahLst/>
            <a:cxnLst/>
            <a:rect l="l" t="t" r="r" b="b"/>
            <a:pathLst>
              <a:path w="3881737" h="574377">
                <a:moveTo>
                  <a:pt x="0" y="0"/>
                </a:moveTo>
                <a:lnTo>
                  <a:pt x="3856802" y="0"/>
                </a:lnTo>
                <a:arcTo wR="24935" hR="24935" stAng="16200000" swAng="5400000"/>
                <a:lnTo>
                  <a:pt x="3881737" y="574377"/>
                </a:lnTo>
                <a:lnTo>
                  <a:pt x="0" y="574377"/>
                </a:lnTo>
                <a:lnTo>
                  <a:pt x="0" y="0"/>
                </a:lnTo>
                <a:close/>
              </a:path>
            </a:pathLst>
          </a:custGeom>
          <a:solidFill>
            <a:srgbClr val="FF8C00"/>
          </a:solidFill>
          <a:ln/>
        </p:spPr>
      </p:sp>
      <p:sp>
        <p:nvSpPr>
          <p:cNvPr id="16" name="Text 14"/>
          <p:cNvSpPr/>
          <p:nvPr/>
        </p:nvSpPr>
        <p:spPr>
          <a:xfrm>
            <a:off x="7808122" y="1807270"/>
            <a:ext cx="408929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Proposed System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904059" y="2384822"/>
            <a:ext cx="3226711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Booking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3926385" y="2384822"/>
            <a:ext cx="4086123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Manual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808122" y="2384822"/>
            <a:ext cx="408929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Automated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904059" y="2962374"/>
            <a:ext cx="3226711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Tracking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3926385" y="2962374"/>
            <a:ext cx="4086123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Phone-based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7808122" y="2962374"/>
            <a:ext cx="408929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Real-time Digital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904059" y="3539927"/>
            <a:ext cx="3226711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Records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3926385" y="3539927"/>
            <a:ext cx="4086123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Paper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7808122" y="3539927"/>
            <a:ext cx="408929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Database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904059" y="4117479"/>
            <a:ext cx="3226711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Errors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3926385" y="4117479"/>
            <a:ext cx="4086123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7808122" y="4117479"/>
            <a:ext cx="408929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Minimal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904059" y="4695031"/>
            <a:ext cx="3226711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Speed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3926385" y="4695031"/>
            <a:ext cx="4086123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Slow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7808122" y="4695031"/>
            <a:ext cx="408929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Fast</a:t>
            </a:r>
            <a:endParaRPr lang="en-US" sz="1550" dirty="0"/>
          </a:p>
        </p:txBody>
      </p:sp>
      <p:sp>
        <p:nvSpPr>
          <p:cNvPr id="32" name="Shape 30"/>
          <p:cNvSpPr/>
          <p:nvPr/>
        </p:nvSpPr>
        <p:spPr>
          <a:xfrm>
            <a:off x="698086" y="5370909"/>
            <a:ext cx="10795524" cy="797719"/>
          </a:xfrm>
          <a:prstGeom prst="roundRect">
            <a:avLst>
              <a:gd name="adj" fmla="val 3751"/>
            </a:avLst>
          </a:prstGeom>
          <a:solidFill>
            <a:srgbClr val="790645"/>
          </a:solidFill>
          <a:ln/>
        </p:spPr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510" y="5661521"/>
            <a:ext cx="249330" cy="199430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1346266" y="5629478"/>
            <a:ext cx="10557504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proposed system addresses every critical failure point of the legacy manual approach.</a:t>
            </a:r>
            <a:endParaRPr lang="en-US" sz="155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6BF0EECF-B81A-77DC-9B30-E72DB23393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7749" y="6511225"/>
            <a:ext cx="1371719" cy="304826"/>
          </a:xfrm>
          <a:prstGeom prst="rect">
            <a:avLst/>
          </a:prstGeom>
        </p:spPr>
      </p:pic>
      <p:pic>
        <p:nvPicPr>
          <p:cNvPr id="37" name="Picture 36" descr="Kl University Logo">
            <a:extLst>
              <a:ext uri="{FF2B5EF4-FFF2-40B4-BE49-F238E27FC236}">
                <a16:creationId xmlns:a16="http://schemas.microsoft.com/office/drawing/2014/main" id="{97FD1B45-FCA4-A28C-4E13-5899D68D08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17" y="-47721"/>
            <a:ext cx="2236582" cy="111829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48580"/>
            <a:ext cx="1079552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System Architecture</a:t>
            </a:r>
            <a:endParaRPr lang="en-US" sz="1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2571" y="941586"/>
            <a:ext cx="6006553" cy="60066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75970" y="1981134"/>
            <a:ext cx="1935399" cy="5711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Customer Interface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3675970" y="2638653"/>
            <a:ext cx="1935399" cy="3643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Place orders and view status in real time.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590707" y="2032751"/>
            <a:ext cx="1935399" cy="285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Admin Dashboard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590707" y="2404693"/>
            <a:ext cx="1935399" cy="546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Manage orders and monitor system-wide activity.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676139" y="4947392"/>
            <a:ext cx="1935399" cy="285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MySQL Database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3676139" y="5319334"/>
            <a:ext cx="1935399" cy="546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Central store ensuring synchronized, role-based data.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590707" y="4804688"/>
            <a:ext cx="1935399" cy="5711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Courier Mobile App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590707" y="5462207"/>
            <a:ext cx="1935399" cy="546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Receive assignments and update delivery progress.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98086" y="7004248"/>
            <a:ext cx="11405108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modular, centralized architecture connects customers, administrators, and delivery personnel through a single MySQL database — ensuring real-time data synchronization, role-based access, and consistent operational visibility across all touchpoints.</a:t>
            </a:r>
            <a:endParaRPr lang="en-US" sz="7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A7DA303-C45F-266B-F0B7-98423795D8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7749" y="6511225"/>
            <a:ext cx="1371719" cy="304826"/>
          </a:xfrm>
          <a:prstGeom prst="rect">
            <a:avLst/>
          </a:prstGeom>
        </p:spPr>
      </p:pic>
      <p:pic>
        <p:nvPicPr>
          <p:cNvPr id="15" name="Picture 14" descr="Kl University Logo">
            <a:extLst>
              <a:ext uri="{FF2B5EF4-FFF2-40B4-BE49-F238E27FC236}">
                <a16:creationId xmlns:a16="http://schemas.microsoft.com/office/drawing/2014/main" id="{0E6C57D4-C4F4-DEC4-3AC6-B7247766F7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55418" y="41949"/>
            <a:ext cx="2236582" cy="111829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1111548"/>
            <a:ext cx="1472072" cy="303113"/>
          </a:xfrm>
          <a:prstGeom prst="roundRect">
            <a:avLst>
              <a:gd name="adj" fmla="val 7897"/>
            </a:avLst>
          </a:prstGeom>
          <a:noFill/>
          <a:ln w="6350">
            <a:solidFill>
              <a:srgbClr val="F98A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7740" y="1171377"/>
            <a:ext cx="1842347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DATABASE DESIGN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98086" y="1494433"/>
            <a:ext cx="515448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ER Diagram</a:t>
            </a:r>
            <a:endParaRPr lang="en-US" sz="3650" dirty="0"/>
          </a:p>
        </p:txBody>
      </p:sp>
      <p:sp>
        <p:nvSpPr>
          <p:cNvPr id="5" name="Text 3"/>
          <p:cNvSpPr/>
          <p:nvPr/>
        </p:nvSpPr>
        <p:spPr>
          <a:xfrm>
            <a:off x="698086" y="2280543"/>
            <a:ext cx="5154484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normalized relational schema captures all core entities and their relationships: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98086" y="3098403"/>
            <a:ext cx="5154484" cy="1874937"/>
          </a:xfrm>
          <a:prstGeom prst="rect">
            <a:avLst/>
          </a:prstGeom>
          <a:noFill/>
          <a:ln/>
        </p:spPr>
        <p:txBody>
          <a:bodyPr wrap="square" lIns="0" tIns="79791" rIns="0" bIns="0" rtlCol="0" anchor="t">
            <a:normAutofit/>
          </a:bodyPr>
          <a:lstStyle/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Customer</a:t>
            </a: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(1:M) → Parcel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Employee</a:t>
            </a: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(1:M) → Delivery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Branch</a:t>
            </a: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(1:M) → Employee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Parcel</a:t>
            </a: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(1:1) → Payment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Parcel</a:t>
            </a: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(1:M) → Delivery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98086" y="5152827"/>
            <a:ext cx="5154484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fully normalized schema eliminates redundancy and guarantees data integrity across the entire parcel lifecycle.</a:t>
            </a:r>
            <a:endParaRPr lang="en-US" sz="15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476" y="851694"/>
            <a:ext cx="5154484" cy="515461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0963BE5-0899-DF3E-75FC-7DFC13ED8F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7749" y="6511225"/>
            <a:ext cx="1371719" cy="304826"/>
          </a:xfrm>
          <a:prstGeom prst="rect">
            <a:avLst/>
          </a:prstGeom>
        </p:spPr>
      </p:pic>
      <p:pic>
        <p:nvPicPr>
          <p:cNvPr id="11" name="Picture 10" descr="Kl University Logo">
            <a:extLst>
              <a:ext uri="{FF2B5EF4-FFF2-40B4-BE49-F238E27FC236}">
                <a16:creationId xmlns:a16="http://schemas.microsoft.com/office/drawing/2014/main" id="{79B9015B-E80E-793A-C9D6-F3BF7C30AF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17" y="-47721"/>
            <a:ext cx="2236582" cy="111829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33F8E86-8CD7-78F6-8807-7E4E32FF83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5476" y="851694"/>
            <a:ext cx="5148438" cy="54070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51061"/>
            <a:ext cx="10795524" cy="495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System Modules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698086" y="1330127"/>
            <a:ext cx="5326723" cy="1564283"/>
          </a:xfrm>
          <a:prstGeom prst="roundRect">
            <a:avLst>
              <a:gd name="adj" fmla="val 1614"/>
            </a:avLst>
          </a:prstGeom>
          <a:solidFill>
            <a:srgbClr val="444752"/>
          </a:solidFill>
          <a:ln/>
        </p:spPr>
      </p:sp>
      <p:sp>
        <p:nvSpPr>
          <p:cNvPr id="4" name="Shape 2"/>
          <p:cNvSpPr/>
          <p:nvPr/>
        </p:nvSpPr>
        <p:spPr>
          <a:xfrm>
            <a:off x="866356" y="1498402"/>
            <a:ext cx="504912" cy="504924"/>
          </a:xfrm>
          <a:prstGeom prst="ellipse">
            <a:avLst/>
          </a:prstGeom>
          <a:solidFill>
            <a:srgbClr val="6EB9F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160" y="1637209"/>
            <a:ext cx="227205" cy="22721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6356" y="2145308"/>
            <a:ext cx="4990181" cy="247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Customer Management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866356" y="2477988"/>
            <a:ext cx="4990181" cy="248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Registration, profiles &amp; address management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166787" y="1330127"/>
            <a:ext cx="5326822" cy="1564283"/>
          </a:xfrm>
          <a:prstGeom prst="roundRect">
            <a:avLst>
              <a:gd name="adj" fmla="val 1614"/>
            </a:avLst>
          </a:prstGeom>
          <a:solidFill>
            <a:srgbClr val="444752"/>
          </a:solidFill>
          <a:ln/>
        </p:spPr>
      </p:sp>
      <p:sp>
        <p:nvSpPr>
          <p:cNvPr id="9" name="Shape 6"/>
          <p:cNvSpPr/>
          <p:nvPr/>
        </p:nvSpPr>
        <p:spPr>
          <a:xfrm>
            <a:off x="6335058" y="1498402"/>
            <a:ext cx="504912" cy="504924"/>
          </a:xfrm>
          <a:prstGeom prst="ellipse">
            <a:avLst/>
          </a:prstGeom>
          <a:solidFill>
            <a:srgbClr val="6EB9FC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3861" y="1637209"/>
            <a:ext cx="227205" cy="22721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35058" y="2145308"/>
            <a:ext cx="4990281" cy="247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Parcel Booking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6335058" y="2477988"/>
            <a:ext cx="4990281" cy="248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Shipment creation, service selection &amp; cost calculation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98086" y="3036391"/>
            <a:ext cx="5326723" cy="1564283"/>
          </a:xfrm>
          <a:prstGeom prst="roundRect">
            <a:avLst>
              <a:gd name="adj" fmla="val 1614"/>
            </a:avLst>
          </a:prstGeom>
          <a:solidFill>
            <a:srgbClr val="444752"/>
          </a:solidFill>
          <a:ln/>
        </p:spPr>
      </p:sp>
      <p:sp>
        <p:nvSpPr>
          <p:cNvPr id="14" name="Shape 10"/>
          <p:cNvSpPr/>
          <p:nvPr/>
        </p:nvSpPr>
        <p:spPr>
          <a:xfrm>
            <a:off x="866356" y="3204666"/>
            <a:ext cx="504912" cy="504924"/>
          </a:xfrm>
          <a:prstGeom prst="ellipse">
            <a:avLst/>
          </a:prstGeom>
          <a:solidFill>
            <a:srgbClr val="6EB9FC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5160" y="3343473"/>
            <a:ext cx="227205" cy="22721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66356" y="3851573"/>
            <a:ext cx="4990181" cy="247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Parcel Tracking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866356" y="4184253"/>
            <a:ext cx="4990181" cy="248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Real-time status, location updates &amp; delivery confirmation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166787" y="3036391"/>
            <a:ext cx="5326822" cy="1564283"/>
          </a:xfrm>
          <a:prstGeom prst="roundRect">
            <a:avLst>
              <a:gd name="adj" fmla="val 1614"/>
            </a:avLst>
          </a:prstGeom>
          <a:solidFill>
            <a:srgbClr val="444752"/>
          </a:solidFill>
          <a:ln/>
        </p:spPr>
      </p:sp>
      <p:sp>
        <p:nvSpPr>
          <p:cNvPr id="19" name="Shape 14"/>
          <p:cNvSpPr/>
          <p:nvPr/>
        </p:nvSpPr>
        <p:spPr>
          <a:xfrm>
            <a:off x="6335058" y="3204666"/>
            <a:ext cx="504912" cy="504924"/>
          </a:xfrm>
          <a:prstGeom prst="ellipse">
            <a:avLst/>
          </a:prstGeom>
          <a:solidFill>
            <a:srgbClr val="6EB9FC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3861" y="3343473"/>
            <a:ext cx="227205" cy="22721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35058" y="3851573"/>
            <a:ext cx="4990281" cy="247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Employee Management</a:t>
            </a:r>
            <a:endParaRPr lang="en-US" sz="1550" dirty="0"/>
          </a:p>
        </p:txBody>
      </p:sp>
      <p:sp>
        <p:nvSpPr>
          <p:cNvPr id="22" name="Text 16"/>
          <p:cNvSpPr/>
          <p:nvPr/>
        </p:nvSpPr>
        <p:spPr>
          <a:xfrm>
            <a:off x="6335058" y="4184253"/>
            <a:ext cx="4990281" cy="248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Staff profiles, assignments &amp; performance tracking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698086" y="4742656"/>
            <a:ext cx="5326723" cy="1564283"/>
          </a:xfrm>
          <a:prstGeom prst="roundRect">
            <a:avLst>
              <a:gd name="adj" fmla="val 1614"/>
            </a:avLst>
          </a:prstGeom>
          <a:solidFill>
            <a:srgbClr val="444752"/>
          </a:solidFill>
          <a:ln/>
        </p:spPr>
      </p:sp>
      <p:sp>
        <p:nvSpPr>
          <p:cNvPr id="24" name="Shape 18"/>
          <p:cNvSpPr/>
          <p:nvPr/>
        </p:nvSpPr>
        <p:spPr>
          <a:xfrm>
            <a:off x="866356" y="4910931"/>
            <a:ext cx="504912" cy="504924"/>
          </a:xfrm>
          <a:prstGeom prst="ellipse">
            <a:avLst/>
          </a:prstGeom>
          <a:solidFill>
            <a:srgbClr val="6EB9FC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5160" y="5049738"/>
            <a:ext cx="227205" cy="227211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66356" y="5557838"/>
            <a:ext cx="4990181" cy="247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Payment Management</a:t>
            </a:r>
            <a:endParaRPr lang="en-US" sz="1550" dirty="0"/>
          </a:p>
        </p:txBody>
      </p:sp>
      <p:sp>
        <p:nvSpPr>
          <p:cNvPr id="27" name="Text 20"/>
          <p:cNvSpPr/>
          <p:nvPr/>
        </p:nvSpPr>
        <p:spPr>
          <a:xfrm>
            <a:off x="866356" y="5890518"/>
            <a:ext cx="4990181" cy="248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Invoice generation, payment processing &amp; receipts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6166787" y="4742656"/>
            <a:ext cx="5326822" cy="1564283"/>
          </a:xfrm>
          <a:prstGeom prst="roundRect">
            <a:avLst>
              <a:gd name="adj" fmla="val 1614"/>
            </a:avLst>
          </a:prstGeom>
          <a:solidFill>
            <a:srgbClr val="444752"/>
          </a:solidFill>
          <a:ln/>
        </p:spPr>
      </p:sp>
      <p:sp>
        <p:nvSpPr>
          <p:cNvPr id="29" name="Shape 22"/>
          <p:cNvSpPr/>
          <p:nvPr/>
        </p:nvSpPr>
        <p:spPr>
          <a:xfrm>
            <a:off x="6335058" y="4910931"/>
            <a:ext cx="504912" cy="504924"/>
          </a:xfrm>
          <a:prstGeom prst="ellipse">
            <a:avLst/>
          </a:prstGeom>
          <a:solidFill>
            <a:srgbClr val="6EB9FC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3861" y="5049738"/>
            <a:ext cx="227205" cy="227211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335058" y="5557838"/>
            <a:ext cx="4990281" cy="247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Report Generation</a:t>
            </a:r>
            <a:endParaRPr lang="en-US" sz="1550" dirty="0"/>
          </a:p>
        </p:txBody>
      </p:sp>
      <p:sp>
        <p:nvSpPr>
          <p:cNvPr id="32" name="Text 24"/>
          <p:cNvSpPr/>
          <p:nvPr/>
        </p:nvSpPr>
        <p:spPr>
          <a:xfrm>
            <a:off x="6335058" y="5890518"/>
            <a:ext cx="4990281" cy="248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Analytics, delivery statistics &amp; revenue reports</a:t>
            </a:r>
            <a:endParaRPr lang="en-US" sz="13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1E66F585-734C-AAE8-84FB-43D62AE88FD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07749" y="6511225"/>
            <a:ext cx="1371719" cy="304826"/>
          </a:xfrm>
          <a:prstGeom prst="rect">
            <a:avLst/>
          </a:prstGeom>
        </p:spPr>
      </p:pic>
      <p:pic>
        <p:nvPicPr>
          <p:cNvPr id="35" name="Picture 34" descr="Kl University Logo">
            <a:extLst>
              <a:ext uri="{FF2B5EF4-FFF2-40B4-BE49-F238E27FC236}">
                <a16:creationId xmlns:a16="http://schemas.microsoft.com/office/drawing/2014/main" id="{B065FCB8-7831-5C3C-7592-E49C1BF7AA5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55418" y="-8085"/>
            <a:ext cx="2236582" cy="111829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1687909"/>
            <a:ext cx="3481896" cy="348198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642528" y="786606"/>
            <a:ext cx="998612" cy="284162"/>
          </a:xfrm>
          <a:prstGeom prst="roundRect">
            <a:avLst>
              <a:gd name="adj" fmla="val 7897"/>
            </a:avLst>
          </a:prstGeom>
          <a:solidFill>
            <a:srgbClr val="49042A"/>
          </a:solidFill>
          <a:ln/>
        </p:spPr>
      </p:sp>
      <p:sp>
        <p:nvSpPr>
          <p:cNvPr id="4" name="Text 1"/>
          <p:cNvSpPr/>
          <p:nvPr/>
        </p:nvSpPr>
        <p:spPr>
          <a:xfrm>
            <a:off x="4754642" y="842665"/>
            <a:ext cx="1383968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TECH STACK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642528" y="1140817"/>
            <a:ext cx="6857332" cy="549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Technology Stack</a:t>
            </a:r>
            <a:endParaRPr lang="en-US" sz="3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2528" y="1887934"/>
            <a:ext cx="3341009" cy="2004020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72740" y="2053530"/>
            <a:ext cx="280484" cy="28049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854850" y="2649637"/>
            <a:ext cx="2916363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Frontend</a:t>
            </a:r>
            <a:endParaRPr lang="en-US" sz="1700" dirty="0"/>
          </a:p>
        </p:txBody>
      </p:sp>
      <p:sp>
        <p:nvSpPr>
          <p:cNvPr id="9" name="Text 4"/>
          <p:cNvSpPr/>
          <p:nvPr/>
        </p:nvSpPr>
        <p:spPr>
          <a:xfrm>
            <a:off x="4854850" y="3099991"/>
            <a:ext cx="2916363" cy="579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HTML5, CSS3, JavaScript — responsive UI for all devices</a:t>
            </a:r>
            <a:endParaRPr lang="en-US" sz="14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58851" y="1887934"/>
            <a:ext cx="3341009" cy="2004020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89064" y="2053530"/>
            <a:ext cx="280484" cy="280491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8371174" y="2649637"/>
            <a:ext cx="2916363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Backend</a:t>
            </a:r>
            <a:endParaRPr lang="en-US" sz="1700" dirty="0"/>
          </a:p>
        </p:txBody>
      </p:sp>
      <p:sp>
        <p:nvSpPr>
          <p:cNvPr id="13" name="Text 6"/>
          <p:cNvSpPr/>
          <p:nvPr/>
        </p:nvSpPr>
        <p:spPr>
          <a:xfrm>
            <a:off x="8371174" y="3099991"/>
            <a:ext cx="2916363" cy="579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Java / PHP for server-side logic and API handling</a:t>
            </a:r>
            <a:endParaRPr lang="en-US" sz="145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2528" y="4067274"/>
            <a:ext cx="3341009" cy="2004020"/>
          </a:xfrm>
          <a:prstGeom prst="rect">
            <a:avLst/>
          </a:prstGeom>
        </p:spPr>
      </p:pic>
      <p:pic>
        <p:nvPicPr>
          <p:cNvPr id="15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72740" y="4232870"/>
            <a:ext cx="280484" cy="280491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4854850" y="4828977"/>
            <a:ext cx="2916363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Database</a:t>
            </a:r>
            <a:endParaRPr lang="en-US" sz="1700" dirty="0"/>
          </a:p>
        </p:txBody>
      </p:sp>
      <p:sp>
        <p:nvSpPr>
          <p:cNvPr id="17" name="Text 8"/>
          <p:cNvSpPr/>
          <p:nvPr/>
        </p:nvSpPr>
        <p:spPr>
          <a:xfrm>
            <a:off x="4854850" y="5279330"/>
            <a:ext cx="2916363" cy="579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MySQL (or) Prisma SQL — relational data management &amp; normalization</a:t>
            </a:r>
            <a:endParaRPr lang="en-US" sz="1450" dirty="0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58851" y="4067274"/>
            <a:ext cx="3341009" cy="2004020"/>
          </a:xfrm>
          <a:prstGeom prst="rect">
            <a:avLst/>
          </a:prstGeom>
        </p:spPr>
      </p:pic>
      <p:pic>
        <p:nvPicPr>
          <p:cNvPr id="19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89064" y="4232870"/>
            <a:ext cx="280484" cy="280491"/>
          </a:xfrm>
          <a:prstGeom prst="rect">
            <a:avLst/>
          </a:prstGeom>
        </p:spPr>
      </p:pic>
      <p:sp>
        <p:nvSpPr>
          <p:cNvPr id="20" name="Text 9"/>
          <p:cNvSpPr/>
          <p:nvPr/>
        </p:nvSpPr>
        <p:spPr>
          <a:xfrm>
            <a:off x="8371174" y="4828977"/>
            <a:ext cx="2916363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Dev Tools</a:t>
            </a:r>
            <a:endParaRPr lang="en-US" sz="1700" dirty="0"/>
          </a:p>
        </p:txBody>
      </p:sp>
      <p:sp>
        <p:nvSpPr>
          <p:cNvPr id="21" name="Text 10"/>
          <p:cNvSpPr/>
          <p:nvPr/>
        </p:nvSpPr>
        <p:spPr>
          <a:xfrm>
            <a:off x="8371174" y="5279330"/>
            <a:ext cx="2916363" cy="579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XAMPP, VS Code, Git for development &amp; version control</a:t>
            </a:r>
            <a:endParaRPr lang="en-US" sz="145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F84F91D-89CB-641A-DE11-3F29DBC222C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07749" y="6511225"/>
            <a:ext cx="1371719" cy="304826"/>
          </a:xfrm>
          <a:prstGeom prst="rect">
            <a:avLst/>
          </a:prstGeom>
        </p:spPr>
      </p:pic>
      <p:pic>
        <p:nvPicPr>
          <p:cNvPr id="24" name="Picture 23" descr="Kl University Logo">
            <a:extLst>
              <a:ext uri="{FF2B5EF4-FFF2-40B4-BE49-F238E27FC236}">
                <a16:creationId xmlns:a16="http://schemas.microsoft.com/office/drawing/2014/main" id="{358F1908-D9B0-DFD8-08DB-A40860FD335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55418" y="-8085"/>
            <a:ext cx="2236582" cy="111829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78445"/>
            <a:ext cx="10795524" cy="549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Key Advantages &amp; Future Enhancements</a:t>
            </a:r>
            <a:endParaRPr lang="en-US" sz="3450" dirty="0"/>
          </a:p>
        </p:txBody>
      </p:sp>
      <p:sp>
        <p:nvSpPr>
          <p:cNvPr id="3" name="Shape 1"/>
          <p:cNvSpPr/>
          <p:nvPr/>
        </p:nvSpPr>
        <p:spPr>
          <a:xfrm>
            <a:off x="698086" y="1588492"/>
            <a:ext cx="1053478" cy="284162"/>
          </a:xfrm>
          <a:prstGeom prst="roundRect">
            <a:avLst>
              <a:gd name="adj" fmla="val 7897"/>
            </a:avLst>
          </a:prstGeom>
          <a:solidFill>
            <a:srgbClr val="49042A"/>
          </a:solidFill>
          <a:ln/>
        </p:spPr>
      </p:sp>
      <p:sp>
        <p:nvSpPr>
          <p:cNvPr id="4" name="Text 2"/>
          <p:cNvSpPr/>
          <p:nvPr/>
        </p:nvSpPr>
        <p:spPr>
          <a:xfrm>
            <a:off x="810200" y="1644551"/>
            <a:ext cx="1438834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ADVANTAGES</a:t>
            </a:r>
            <a:endParaRPr lang="en-US" sz="11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8232" y="2075507"/>
            <a:ext cx="280484" cy="2804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05785" y="2069802"/>
            <a:ext cx="4561964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Real-Time Tracking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305785" y="2520156"/>
            <a:ext cx="4561964" cy="289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Customers monitor parcels from pickup to final delivery.</a:t>
            </a:r>
            <a:endParaRPr lang="en-US" sz="1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8232" y="3166318"/>
            <a:ext cx="280484" cy="28049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05785" y="3160613"/>
            <a:ext cx="4561964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Security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1305785" y="3610967"/>
            <a:ext cx="4561964" cy="289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Encrypted database with role-based access control.</a:t>
            </a:r>
            <a:endParaRPr lang="en-US" sz="14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8232" y="4257129"/>
            <a:ext cx="280484" cy="28049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05785" y="4251424"/>
            <a:ext cx="4561964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80% Efficiency Gain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1305785" y="4701778"/>
            <a:ext cx="4561964" cy="289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Automated workflows dramatically reduce manual effort.</a:t>
            </a:r>
            <a:endParaRPr lang="en-US" sz="14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8232" y="5347940"/>
            <a:ext cx="280484" cy="28049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05785" y="5342235"/>
            <a:ext cx="4561964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Cost Reduction</a:t>
            </a:r>
            <a:endParaRPr lang="en-US" sz="1700" dirty="0"/>
          </a:p>
        </p:txBody>
      </p:sp>
      <p:sp>
        <p:nvSpPr>
          <p:cNvPr id="16" name="Text 10"/>
          <p:cNvSpPr/>
          <p:nvPr/>
        </p:nvSpPr>
        <p:spPr>
          <a:xfrm>
            <a:off x="1305785" y="5792589"/>
            <a:ext cx="4561964" cy="289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Paperless operations and optimized delivery routing.</a:t>
            </a:r>
            <a:endParaRPr lang="en-US" sz="1450" dirty="0"/>
          </a:p>
        </p:txBody>
      </p:sp>
      <p:sp>
        <p:nvSpPr>
          <p:cNvPr id="17" name="Shape 11"/>
          <p:cNvSpPr/>
          <p:nvPr/>
        </p:nvSpPr>
        <p:spPr>
          <a:xfrm>
            <a:off x="6330296" y="1588492"/>
            <a:ext cx="1818436" cy="284162"/>
          </a:xfrm>
          <a:prstGeom prst="roundRect">
            <a:avLst>
              <a:gd name="adj" fmla="val 7897"/>
            </a:avLst>
          </a:prstGeom>
          <a:noFill/>
          <a:ln w="6350">
            <a:solidFill>
              <a:srgbClr val="F98AC7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6442410" y="1644551"/>
            <a:ext cx="2203792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FUTURE ENHANCEMENTS</a:t>
            </a:r>
            <a:endParaRPr lang="en-US" sz="115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00441" y="2075507"/>
            <a:ext cx="280484" cy="28049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937995" y="2069802"/>
            <a:ext cx="4561964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GPS Tracking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6937995" y="2520156"/>
            <a:ext cx="4561964" cy="289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Real-time location mapping for all delivery vehicles.</a:t>
            </a:r>
            <a:endParaRPr lang="en-US" sz="145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00441" y="3166318"/>
            <a:ext cx="280484" cy="280491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937995" y="3160613"/>
            <a:ext cx="4561964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Mobile Application</a:t>
            </a:r>
            <a:endParaRPr lang="en-US" sz="1700" dirty="0"/>
          </a:p>
        </p:txBody>
      </p:sp>
      <p:sp>
        <p:nvSpPr>
          <p:cNvPr id="24" name="Text 16"/>
          <p:cNvSpPr/>
          <p:nvPr/>
        </p:nvSpPr>
        <p:spPr>
          <a:xfrm>
            <a:off x="6937995" y="3610967"/>
            <a:ext cx="4561964" cy="289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Native iOS &amp; Android apps for customers and couriers.</a:t>
            </a:r>
            <a:endParaRPr lang="en-US" sz="1450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00441" y="4257129"/>
            <a:ext cx="280484" cy="280491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937995" y="4251424"/>
            <a:ext cx="4561964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 Route Optimization</a:t>
            </a:r>
            <a:endParaRPr lang="en-US" sz="1700" dirty="0"/>
          </a:p>
        </p:txBody>
      </p:sp>
      <p:sp>
        <p:nvSpPr>
          <p:cNvPr id="27" name="Text 18"/>
          <p:cNvSpPr/>
          <p:nvPr/>
        </p:nvSpPr>
        <p:spPr>
          <a:xfrm>
            <a:off x="6937995" y="4701778"/>
            <a:ext cx="4561964" cy="289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Machine learning for smarter, faster delivery routes.</a:t>
            </a:r>
            <a:endParaRPr lang="en-US" sz="1450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00441" y="5347940"/>
            <a:ext cx="280484" cy="280491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6937995" y="5342235"/>
            <a:ext cx="4561964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Cloud Integration</a:t>
            </a:r>
            <a:endParaRPr lang="en-US" sz="1700" dirty="0"/>
          </a:p>
        </p:txBody>
      </p:sp>
      <p:sp>
        <p:nvSpPr>
          <p:cNvPr id="30" name="Text 20"/>
          <p:cNvSpPr/>
          <p:nvPr/>
        </p:nvSpPr>
        <p:spPr>
          <a:xfrm>
            <a:off x="6937995" y="5792589"/>
            <a:ext cx="4561964" cy="289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Scalable cloud deployment for multi-branch operations.</a:t>
            </a:r>
            <a:endParaRPr lang="en-US" sz="145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CC97CCB5-4227-3FF9-8DB5-B98A7F0C92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7749" y="6511225"/>
            <a:ext cx="1371719" cy="304826"/>
          </a:xfrm>
          <a:prstGeom prst="rect">
            <a:avLst/>
          </a:prstGeom>
        </p:spPr>
      </p:pic>
      <p:pic>
        <p:nvPicPr>
          <p:cNvPr id="33" name="Picture 32" descr="Kl University Logo">
            <a:extLst>
              <a:ext uri="{FF2B5EF4-FFF2-40B4-BE49-F238E27FC236}">
                <a16:creationId xmlns:a16="http://schemas.microsoft.com/office/drawing/2014/main" id="{FB3D23D5-4E0C-CA3F-6303-351F0E1B85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55418" y="-8085"/>
            <a:ext cx="2236582" cy="111829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444752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37" y="144760"/>
            <a:ext cx="4378811" cy="65683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69971" y="598487"/>
            <a:ext cx="6223638" cy="568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Conclusion</a:t>
            </a:r>
            <a:endParaRPr lang="en-US" sz="3550" dirty="0"/>
          </a:p>
        </p:txBody>
      </p:sp>
      <p:sp>
        <p:nvSpPr>
          <p:cNvPr id="5" name="Shape 2"/>
          <p:cNvSpPr/>
          <p:nvPr/>
        </p:nvSpPr>
        <p:spPr>
          <a:xfrm>
            <a:off x="5269971" y="1447602"/>
            <a:ext cx="3018258" cy="1986359"/>
          </a:xfrm>
          <a:prstGeom prst="roundRect">
            <a:avLst>
              <a:gd name="adj" fmla="val 1459"/>
            </a:avLst>
          </a:prstGeom>
          <a:solidFill>
            <a:srgbClr val="444752"/>
          </a:solidFill>
          <a:ln/>
        </p:spPr>
      </p:sp>
      <p:sp>
        <p:nvSpPr>
          <p:cNvPr id="6" name="Text 3"/>
          <p:cNvSpPr/>
          <p:nvPr/>
        </p:nvSpPr>
        <p:spPr>
          <a:xfrm>
            <a:off x="5463145" y="1640780"/>
            <a:ext cx="2631910" cy="5744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🚀</a:t>
            </a:r>
            <a:r>
              <a:rPr lang="en-US" sz="17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Transforms Operations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463145" y="2327573"/>
            <a:ext cx="2631910" cy="913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Enterprise Parcel Management System automates courier operations end-to-end.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475351" y="1447602"/>
            <a:ext cx="3018258" cy="1986359"/>
          </a:xfrm>
          <a:prstGeom prst="roundRect">
            <a:avLst>
              <a:gd name="adj" fmla="val 1459"/>
            </a:avLst>
          </a:prstGeom>
          <a:solidFill>
            <a:srgbClr val="444752"/>
          </a:solidFill>
          <a:ln/>
        </p:spPr>
      </p:sp>
      <p:sp>
        <p:nvSpPr>
          <p:cNvPr id="9" name="Text 6"/>
          <p:cNvSpPr/>
          <p:nvPr/>
        </p:nvSpPr>
        <p:spPr>
          <a:xfrm>
            <a:off x="8668525" y="1640780"/>
            <a:ext cx="2631910" cy="290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📦</a:t>
            </a:r>
            <a:r>
              <a:rPr lang="en-US" sz="17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Measurable Benefits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8668525" y="2043509"/>
            <a:ext cx="2631910" cy="913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Faster delivery, reduced errors, and a significantly improved customer experience.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269971" y="3621088"/>
            <a:ext cx="6223638" cy="1397893"/>
          </a:xfrm>
          <a:prstGeom prst="roundRect">
            <a:avLst>
              <a:gd name="adj" fmla="val 2074"/>
            </a:avLst>
          </a:prstGeom>
          <a:solidFill>
            <a:srgbClr val="444752"/>
          </a:solidFill>
          <a:ln/>
        </p:spPr>
      </p:sp>
      <p:sp>
        <p:nvSpPr>
          <p:cNvPr id="12" name="Text 9"/>
          <p:cNvSpPr/>
          <p:nvPr/>
        </p:nvSpPr>
        <p:spPr>
          <a:xfrm>
            <a:off x="5463145" y="3814266"/>
            <a:ext cx="5837290" cy="290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🌐</a:t>
            </a:r>
            <a:r>
              <a:rPr lang="en-US" sz="17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Enterprise-Ready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5463145" y="4216995"/>
            <a:ext cx="5837290" cy="608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Scalable, normalized, and ready for deployment across multiple branches.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559782" y="5440065"/>
            <a:ext cx="5933827" cy="608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1000"/>
              </a:lnSpc>
              <a:buNone/>
            </a:pPr>
            <a:r>
              <a:rPr lang="en-US" sz="15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Thank You</a:t>
            </a: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Enterprise Parcel Management System | B.Tech DBMS Project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269971" y="5229523"/>
            <a:ext cx="25399" cy="1029891"/>
          </a:xfrm>
          <a:prstGeom prst="roundRect">
            <a:avLst>
              <a:gd name="adj" fmla="val 50001"/>
            </a:avLst>
          </a:prstGeom>
          <a:solidFill>
            <a:srgbClr val="F98AC7"/>
          </a:solidFill>
          <a:ln/>
        </p:spPr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D206AD8-699E-F7CD-55E9-16D348F835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7749" y="6511225"/>
            <a:ext cx="1371719" cy="304826"/>
          </a:xfrm>
          <a:prstGeom prst="rect">
            <a:avLst/>
          </a:prstGeom>
        </p:spPr>
      </p:pic>
      <p:pic>
        <p:nvPicPr>
          <p:cNvPr id="18" name="Picture 17" descr="Kl University Logo">
            <a:extLst>
              <a:ext uri="{FF2B5EF4-FFF2-40B4-BE49-F238E27FC236}">
                <a16:creationId xmlns:a16="http://schemas.microsoft.com/office/drawing/2014/main" id="{DB0B6787-0CAB-52D8-B288-059AE74399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55418" y="-8085"/>
            <a:ext cx="2236582" cy="111829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660</Words>
  <Application>Microsoft Office PowerPoint</Application>
  <PresentationFormat>Widescreen</PresentationFormat>
  <Paragraphs>138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Source Sans 3</vt:lpstr>
      <vt:lpstr>Source Sans 3 Bold</vt:lpstr>
      <vt:lpstr>Arial</vt:lpstr>
      <vt:lpstr>Lora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SHIVAM TIWARI</cp:lastModifiedBy>
  <cp:revision>5</cp:revision>
  <dcterms:created xsi:type="dcterms:W3CDTF">2026-08-24T03:28:10Z</dcterms:created>
  <dcterms:modified xsi:type="dcterms:W3CDTF">2026-09-15T05:09:26Z</dcterms:modified>
</cp:coreProperties>
</file>